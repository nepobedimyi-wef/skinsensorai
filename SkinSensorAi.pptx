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6D9FEA-AFB9-4EFB-92B5-61AB2E42E225}">
  <a:tblStyle styleId="{276D9FEA-AFB9-4EFB-92B5-61AB2E42E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b7b14b8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b7b14b8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b7b14b8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b7b14b8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b7b14b8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b7b14b8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b7b14b8c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b7b14b8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b7b14b8c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b7b14b8c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b7b14b8c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b7b14b8c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7de32c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a7de32c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a7de32c1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a7de32c1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7de32c1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a7de32c1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a7de32c1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a7de32c1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b7b14b8c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b7b14b8c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7de32c1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a7de32c1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b7b14b8c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b7b14b8c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a7de32c1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a7de32c1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7de32c1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a7de32c1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5500">
                <a:solidFill>
                  <a:srgbClr val="000000"/>
                </a:solidFill>
              </a:rPr>
              <a:t>SkinSensorAi</a:t>
            </a:r>
            <a:endParaRPr b="1" sz="5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Карманный дерматолог</a:t>
            </a:r>
            <a:endParaRPr b="1" sz="30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804" y="0"/>
            <a:ext cx="2562194" cy="101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Цели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Создать простой и быстрый инструмент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Помочь пользователю сориентироваться в проблеме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Дать персонализированные советы по уходу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Снизить количество ненужных и неподходящих покупок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Задачи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Разработать сервер на Python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Подключить Telegram Bot API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Обучить нейросеть на датасете кожи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Научить модель классифицировать проблемы: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  акне, сухость, жирность кожи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Настроить сохранение истории в базу данных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Сделать удобный интерфейс в Telegram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– Протестировать точность и стабильность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Актуальность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– Проблема: люди тратят время и деньги на неподходящие косметические средства из‑за отсутствия доступной первичной диагностики кожи.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– Решение: Telegram‑бот с нейросетью даёт бесплатный анализ фото и персонализированные советы за секунды.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– Почему сейчас: рост проблем с кожей из‑за стресса, экологии, сезонных изменений; высокая популярность мессенджеров; дефицит квалифицированных консультаций «здесь и сейчас».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Целевая аудитория</a:t>
            </a:r>
            <a:endParaRPr b="1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Подростки и </a:t>
            </a:r>
            <a:r>
              <a:rPr b="1" lang="ru" sz="1700">
                <a:solidFill>
                  <a:schemeClr val="dk1"/>
                </a:solidFill>
              </a:rPr>
              <a:t>молодежь</a:t>
            </a:r>
            <a:r>
              <a:rPr b="1" lang="ru" sz="1700">
                <a:solidFill>
                  <a:schemeClr val="dk1"/>
                </a:solidFill>
              </a:rPr>
              <a:t> 14–25 лет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  Акне, жирная кожа, ограниченный бюджет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Женщины 25–45 лет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   Сухость, первые признаки старения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– Занятые люди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  Нет времени на врача, нужно сориентироваться здесь и сейчас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Технологический стек</a:t>
            </a:r>
            <a:endParaRPr b="1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ru" sz="1900">
                <a:solidFill>
                  <a:schemeClr val="dk1"/>
                </a:solidFill>
              </a:rPr>
              <a:t>Python</a:t>
            </a:r>
            <a:r>
              <a:rPr lang="ru" sz="1900">
                <a:solidFill>
                  <a:schemeClr val="dk1"/>
                </a:solidFill>
              </a:rPr>
              <a:t> </a:t>
            </a:r>
            <a:r>
              <a:rPr lang="ru" sz="1900">
                <a:solidFill>
                  <a:schemeClr val="dk1"/>
                </a:solidFill>
              </a:rPr>
              <a:t>- </a:t>
            </a:r>
            <a:r>
              <a:rPr lang="ru" sz="1900">
                <a:solidFill>
                  <a:schemeClr val="dk1"/>
                </a:solidFill>
              </a:rPr>
              <a:t>основная логика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ru" sz="1900">
                <a:solidFill>
                  <a:schemeClr val="dk1"/>
                </a:solidFill>
              </a:rPr>
              <a:t>Telegram Bot API (telebot)</a:t>
            </a:r>
            <a:r>
              <a:rPr lang="ru" sz="1900">
                <a:solidFill>
                  <a:schemeClr val="dk1"/>
                </a:solidFill>
              </a:rPr>
              <a:t> - интерфейс пользователя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ru" sz="1900">
                <a:solidFill>
                  <a:schemeClr val="dk1"/>
                </a:solidFill>
              </a:rPr>
              <a:t>SQLite</a:t>
            </a:r>
            <a:r>
              <a:rPr lang="ru" sz="1900">
                <a:solidFill>
                  <a:schemeClr val="dk1"/>
                </a:solidFill>
              </a:rPr>
              <a:t> </a:t>
            </a:r>
            <a:r>
              <a:rPr lang="ru" sz="1900">
                <a:solidFill>
                  <a:schemeClr val="dk1"/>
                </a:solidFill>
              </a:rPr>
              <a:t>- </a:t>
            </a:r>
            <a:r>
              <a:rPr lang="ru" sz="1900">
                <a:solidFill>
                  <a:schemeClr val="dk1"/>
                </a:solidFill>
              </a:rPr>
              <a:t>база данных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ru" sz="1900">
                <a:solidFill>
                  <a:schemeClr val="dk1"/>
                </a:solidFill>
              </a:rPr>
              <a:t>TensorFlow</a:t>
            </a:r>
            <a:r>
              <a:rPr lang="ru" sz="1900">
                <a:solidFill>
                  <a:schemeClr val="dk1"/>
                </a:solidFill>
              </a:rPr>
              <a:t> </a:t>
            </a:r>
            <a:r>
              <a:rPr lang="ru" sz="1900">
                <a:solidFill>
                  <a:schemeClr val="dk1"/>
                </a:solidFill>
              </a:rPr>
              <a:t>- </a:t>
            </a:r>
            <a:r>
              <a:rPr lang="ru" sz="1900">
                <a:solidFill>
                  <a:schemeClr val="dk1"/>
                </a:solidFill>
              </a:rPr>
              <a:t>модель определения типа кожи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ru" sz="1900">
                <a:solidFill>
                  <a:schemeClr val="dk1"/>
                </a:solidFill>
              </a:rPr>
              <a:t>PyTorch</a:t>
            </a:r>
            <a:r>
              <a:rPr lang="ru" sz="1900">
                <a:solidFill>
                  <a:schemeClr val="dk1"/>
                </a:solidFill>
              </a:rPr>
              <a:t> </a:t>
            </a:r>
            <a:r>
              <a:rPr lang="ru" sz="1900">
                <a:solidFill>
                  <a:schemeClr val="dk1"/>
                </a:solidFill>
              </a:rPr>
              <a:t>- </a:t>
            </a:r>
            <a:r>
              <a:rPr lang="ru" sz="1900">
                <a:solidFill>
                  <a:schemeClr val="dk1"/>
                </a:solidFill>
              </a:rPr>
              <a:t>модель определения акне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ru" sz="1900">
                <a:solidFill>
                  <a:schemeClr val="dk1"/>
                </a:solidFill>
              </a:rPr>
              <a:t>OpenAI API</a:t>
            </a:r>
            <a:r>
              <a:rPr lang="ru" sz="1900">
                <a:solidFill>
                  <a:schemeClr val="dk1"/>
                </a:solidFill>
              </a:rPr>
              <a:t> </a:t>
            </a:r>
            <a:r>
              <a:rPr lang="ru" sz="1900">
                <a:solidFill>
                  <a:schemeClr val="dk1"/>
                </a:solidFill>
              </a:rPr>
              <a:t>- </a:t>
            </a:r>
            <a:r>
              <a:rPr lang="ru" sz="1900">
                <a:solidFill>
                  <a:schemeClr val="dk1"/>
                </a:solidFill>
              </a:rPr>
              <a:t>ИИ-консультация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ru" sz="1900">
                <a:solidFill>
                  <a:schemeClr val="dk1"/>
                </a:solidFill>
              </a:rPr>
              <a:t>OpenCV / PIL</a:t>
            </a:r>
            <a:r>
              <a:rPr lang="ru" sz="1900">
                <a:solidFill>
                  <a:schemeClr val="dk1"/>
                </a:solidFill>
              </a:rPr>
              <a:t> </a:t>
            </a:r>
            <a:r>
              <a:rPr lang="ru" sz="1900">
                <a:solidFill>
                  <a:schemeClr val="dk1"/>
                </a:solidFill>
              </a:rPr>
              <a:t>- </a:t>
            </a:r>
            <a:r>
              <a:rPr lang="ru" sz="1900">
                <a:solidFill>
                  <a:schemeClr val="dk1"/>
                </a:solidFill>
              </a:rPr>
              <a:t>обработка изображений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Описание взаимодействия модулей</a:t>
            </a:r>
            <a:endParaRPr b="1"/>
          </a:p>
        </p:txBody>
      </p:sp>
      <p:pic>
        <p:nvPicPr>
          <p:cNvPr id="97" name="Google Shape;97;p19" title="12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755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ru"/>
              <a:t>Архитектура нейросети для </a:t>
            </a:r>
            <a:r>
              <a:rPr lang="ru"/>
              <a:t>обнаружения</a:t>
            </a:r>
            <a:r>
              <a:rPr lang="ru"/>
              <a:t> акне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Вход: изображения 224×224×3 (RGB)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Активация: ReLU (кастомный блок), Softmax (выход)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Оптимизатор: Adam (learning rate = 0.001)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Функция потерь: CrossEntropyLoss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Параметры: ~1 000 000 обучаемых (кастомный fc-блок)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Точность: 80–95% в зависимости от датасета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Визуализация 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 title="IMG_20260502_164437_93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8839200" cy="2817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Архитектура нейросети классификации состояния кожи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4750">
                <a:solidFill>
                  <a:schemeClr val="dk1"/>
                </a:solidFill>
              </a:rPr>
              <a:t>Вход: изображения 300×300×3 (RGB)</a:t>
            </a:r>
            <a:endParaRPr sz="4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4750">
                <a:solidFill>
                  <a:schemeClr val="dk1"/>
                </a:solidFill>
              </a:rPr>
              <a:t>Активация: ReLU (скрытые слои), Softmax (выход)</a:t>
            </a:r>
            <a:endParaRPr sz="4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4750">
                <a:solidFill>
                  <a:schemeClr val="dk1"/>
                </a:solidFill>
              </a:rPr>
              <a:t>Оптимизатор: Adam (learning rate = 0.001 → 0.000001 поэтапно)</a:t>
            </a:r>
            <a:endParaRPr sz="4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4750">
                <a:solidFill>
                  <a:schemeClr val="dk1"/>
                </a:solidFill>
              </a:rPr>
              <a:t>Функция потерь: CategoricalCrossentropy (label_smoothing = 0.1)</a:t>
            </a:r>
            <a:endParaRPr sz="4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4750">
                <a:solidFill>
                  <a:schemeClr val="dk1"/>
                </a:solidFill>
              </a:rPr>
              <a:t>Параметры: ~12 млн (EfficientNetB3), обучаемых зависит от этапа (0 → 40 слоёв → 100 слоёв → вся модель)</a:t>
            </a:r>
            <a:endParaRPr sz="4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 sz="4750">
                <a:solidFill>
                  <a:schemeClr val="dk1"/>
                </a:solidFill>
              </a:rPr>
              <a:t>Точность: 80–95% в зависимости от датасета</a:t>
            </a:r>
            <a:endParaRPr sz="4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Визуализация </a:t>
            </a:r>
            <a:endParaRPr/>
          </a:p>
        </p:txBody>
      </p:sp>
      <p:pic>
        <p:nvPicPr>
          <p:cNvPr id="125" name="Google Shape;125;p23" title="IMG_20260502_125917_24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88875"/>
            <a:ext cx="8708701" cy="2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58900" y="2225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/>
              <a:t>Архитектура бота</a:t>
            </a:r>
            <a:endParaRPr b="1" sz="2620"/>
          </a:p>
        </p:txBody>
      </p:sp>
      <p:sp>
        <p:nvSpPr>
          <p:cNvPr id="132" name="Google Shape;132;p24"/>
          <p:cNvSpPr txBox="1"/>
          <p:nvPr/>
        </p:nvSpPr>
        <p:spPr>
          <a:xfrm>
            <a:off x="327425" y="970550"/>
            <a:ext cx="87249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– Пользователь отправляет фото боту в Telegram.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– Telegram Bot API → передаёт фото на Backend.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– Модуль предобработки (OpenCV) → преобразует фото (масштабирование, нормализация).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– Модуль классификации (TensorFlow/Pytorch) → загружает обученную модель, определяет вероятные проблемы: акне, сухость, жирность.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– Модуль рекомендаций → на основе результата классификации запрашивает советы (из статической базы или через LLM).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– Модуль БД → сохраняет ID пользователя, путь к фото, диагноз, дату.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– Backend → формирует ответ с текстом диагноза, уверенностью модели и советами → отправляет через Telegram API пользователю.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Дорожная карта</a:t>
            </a:r>
            <a:endParaRPr/>
          </a:p>
        </p:txBody>
      </p:sp>
      <p:graphicFrame>
        <p:nvGraphicFramePr>
          <p:cNvPr id="139" name="Google Shape;139;p25"/>
          <p:cNvGraphicFramePr/>
          <p:nvPr/>
        </p:nvGraphicFramePr>
        <p:xfrm>
          <a:off x="486800" y="129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{276D9FEA-AFB9-4EFB-92B5-61AB2E42E225}</a:tableStyleId>
              </a:tblPr>
              <a:tblGrid>
                <a:gridCol w="1826025"/>
                <a:gridCol w="1826025"/>
                <a:gridCol w="1826025"/>
                <a:gridCol w="1826025"/>
              </a:tblGrid>
              <a:tr h="50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Недели 1-2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Недели 3-4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Недели 5-6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Недели 7-8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29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Сбор датасетов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Создание каркаса бота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База данных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Структура папок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Разделение данных</a:t>
                      </a:r>
                      <a:endParaRPr sz="115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Обучение модели DNO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Тестирование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Подготовка модели Acne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Обучение модели Acne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Интеграция моделей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Создание AI-консультант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а и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напоминаний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Отладка</a:t>
                      </a:r>
                      <a:r>
                        <a:rPr lang="ru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и тестирование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Заключение</a:t>
            </a:r>
            <a:endParaRPr b="1"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SkinSensorAi — это практичный инструмент, который демонстрирует применение искусственного интеллекта в повседневной заботе о здоровье кожи.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Проект решает три ключевые задачи: 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– Доступность — работает в бесплатном мессенджере, не требует установки. 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– Скорость — результат за 1–2 секунды. 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– Персонализация — советы под конкретную проблему на основе анализа фото.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Ссылка</a:t>
            </a:r>
            <a:r>
              <a:rPr lang="ru"/>
              <a:t> на репозиторий</a:t>
            </a:r>
            <a:endParaRPr/>
          </a:p>
        </p:txBody>
      </p:sp>
      <p:pic>
        <p:nvPicPr>
          <p:cNvPr id="153" name="Google Shape;153;p27" title="github_repo_q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662" y="1473200"/>
            <a:ext cx="2834675" cy="283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Демонстрация</a:t>
            </a:r>
            <a:endParaRPr/>
          </a:p>
        </p:txBody>
      </p:sp>
      <p:pic>
        <p:nvPicPr>
          <p:cNvPr id="160" name="Google Shape;160;p28" title="Screenshot_20260502-161419.jpg"/>
          <p:cNvPicPr preferRelativeResize="0"/>
          <p:nvPr/>
        </p:nvPicPr>
        <p:blipFill rotWithShape="1">
          <a:blip r:embed="rId3">
            <a:alphaModFix/>
          </a:blip>
          <a:srcRect b="7037" l="0" r="0" t="0"/>
          <a:stretch/>
        </p:blipFill>
        <p:spPr>
          <a:xfrm>
            <a:off x="1015750" y="1146180"/>
            <a:ext cx="1805825" cy="3569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 title="Screenshot_20260502-161324.jpg"/>
          <p:cNvPicPr preferRelativeResize="0"/>
          <p:nvPr/>
        </p:nvPicPr>
        <p:blipFill rotWithShape="1">
          <a:blip r:embed="rId4">
            <a:alphaModFix/>
          </a:blip>
          <a:srcRect b="7766" l="0" r="0" t="0"/>
          <a:stretch/>
        </p:blipFill>
        <p:spPr>
          <a:xfrm>
            <a:off x="3669087" y="1169200"/>
            <a:ext cx="1805826" cy="3523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 title="Screenshot_20260502-133035.jpg"/>
          <p:cNvPicPr preferRelativeResize="0"/>
          <p:nvPr/>
        </p:nvPicPr>
        <p:blipFill rotWithShape="1">
          <a:blip r:embed="rId5">
            <a:alphaModFix/>
          </a:blip>
          <a:srcRect b="6200" l="0" r="0" t="0"/>
          <a:stretch/>
        </p:blipFill>
        <p:spPr>
          <a:xfrm>
            <a:off x="6322415" y="1169200"/>
            <a:ext cx="1746285" cy="3523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9700" y="0"/>
            <a:ext cx="1854301" cy="7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